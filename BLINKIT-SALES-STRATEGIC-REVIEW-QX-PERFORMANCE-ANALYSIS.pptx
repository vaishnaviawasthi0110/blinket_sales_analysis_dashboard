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Prompt Medium"/>
      <p:regular r:id="rId14"/>
    </p:embeddedFont>
    <p:embeddedFont>
      <p:font typeface="Prompt Medium"/>
      <p:regular r:id="rId15"/>
    </p:embeddedFont>
    <p:embeddedFont>
      <p:font typeface="Prompt Medium"/>
      <p:regular r:id="rId16"/>
    </p:embeddedFont>
    <p:embeddedFont>
      <p:font typeface="Prompt Medium"/>
      <p:regular r:id="rId17"/>
    </p:embeddedFont>
    <p:embeddedFont>
      <p:font typeface="Mukta Light"/>
      <p:regular r:id="rId18"/>
    </p:embeddedFont>
    <p:embeddedFont>
      <p:font typeface="Mukta Light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940284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940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1356" y="459343"/>
            <a:ext cx="11639907" cy="46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BLINKIT SALES STRATEGIC REVIEW:</a:t>
            </a:r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QX PERFORMANCE ANALYSIS</a:t>
            </a:r>
            <a:endParaRPr lang="en-US" sz="2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56" y="1173837"/>
            <a:ext cx="11987689" cy="66853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1356" y="8109704"/>
            <a:ext cx="8261271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10-Minute Insight: Maximizing Hyper-Local Efficiency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666512"/>
            <a:ext cx="6015871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Strategic KPI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21356" y="1944648"/>
            <a:ext cx="5842516" cy="79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50"/>
              </a:lnSpc>
              <a:buNone/>
            </a:pPr>
            <a:r>
              <a:rPr lang="en-US" sz="6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$1.20M</a:t>
            </a:r>
            <a:endParaRPr lang="en-US" sz="6250" dirty="0"/>
          </a:p>
        </p:txBody>
      </p:sp>
      <p:sp>
        <p:nvSpPr>
          <p:cNvPr id="4" name="Text 2"/>
          <p:cNvSpPr/>
          <p:nvPr/>
        </p:nvSpPr>
        <p:spPr>
          <a:xfrm>
            <a:off x="2897148" y="3046452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Total Revenue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21356" y="3528060"/>
            <a:ext cx="5842516" cy="77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Strong baseline: Focus shifts from </a:t>
            </a:r>
            <a:pPr algn="ctr" indent="0" marL="0">
              <a:lnSpc>
                <a:spcPts val="3050"/>
              </a:lnSpc>
              <a:buNone/>
            </a:pPr>
            <a:r>
              <a:rPr lang="en-US" sz="1900" i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growth</a:t>
            </a:r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</a:t>
            </a:r>
            <a:pPr algn="ctr" indent="0" marL="0">
              <a:lnSpc>
                <a:spcPts val="3050"/>
              </a:lnSpc>
              <a:buNone/>
            </a:pPr>
            <a:r>
              <a:rPr lang="en-US" sz="1900" i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profitability</a:t>
            </a:r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via optimized assortment.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66528" y="1944648"/>
            <a:ext cx="5842516" cy="79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50"/>
              </a:lnSpc>
              <a:buNone/>
            </a:pPr>
            <a:r>
              <a:rPr lang="en-US" sz="6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$141</a:t>
            </a:r>
            <a:endParaRPr lang="en-US" sz="6250" dirty="0"/>
          </a:p>
        </p:txBody>
      </p:sp>
      <p:sp>
        <p:nvSpPr>
          <p:cNvPr id="7" name="Text 5"/>
          <p:cNvSpPr/>
          <p:nvPr/>
        </p:nvSpPr>
        <p:spPr>
          <a:xfrm>
            <a:off x="8555950" y="3046452"/>
            <a:ext cx="3663553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Average Order Value (AOV)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66528" y="3528060"/>
            <a:ext cx="5842516" cy="116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 AOV suggests consumer reliance for </a:t>
            </a:r>
            <a:pPr algn="ctr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bulk/essential items</a:t>
            </a:r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(groceries, produce), justifying high inventory investment.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321356" y="4962763"/>
            <a:ext cx="11987689" cy="2600325"/>
          </a:xfrm>
          <a:prstGeom prst="roundRect">
            <a:avLst>
              <a:gd name="adj" fmla="val 3912"/>
            </a:avLst>
          </a:prstGeom>
          <a:solidFill>
            <a:srgbClr val="321A2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529" y="5281374"/>
            <a:ext cx="336352" cy="2690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42053" y="5265420"/>
            <a:ext cx="342769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Optimal Dark Store Profile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142053" y="5843945"/>
            <a:ext cx="10924818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Medium-Sized Outlets in Tier 3 Locations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142053" y="6449258"/>
            <a:ext cx="10924818" cy="77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These sites are the highest revenue generators. </a:t>
            </a:r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Immediate action required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replicate the Medium/Tier 3 operational blueprint for all new expansions.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392787"/>
            <a:ext cx="7481411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EXECUTIVE SUMMARY: </a:t>
            </a:r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GROWTH ACCELERATORS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1321356" y="1075134"/>
            <a:ext cx="119876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sales analysis reveals that Blinkit's performance is anchored by a highly effective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hyper-local fulfillment network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that caters to health-conscious, high-demand customers. The single greatest lever for immediate optimization is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Dark Store Size and Location Tiering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which directly dictates revenue density.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35549" y="1853565"/>
            <a:ext cx="1177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strategic imperative is to: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Standardize the medium-sized, Tier 3 dark store model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capture maximum demand while rigorously stocking high-visibility, high-margin products like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Fresh Produce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Low-Fat Consumables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21356" y="1692950"/>
            <a:ext cx="15240" cy="778431"/>
          </a:xfrm>
          <a:prstGeom prst="rect">
            <a:avLst/>
          </a:prstGeom>
          <a:solidFill>
            <a:srgbClr val="A95B9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56" y="2631996"/>
            <a:ext cx="11987689" cy="6685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733901"/>
            <a:ext cx="8854321" cy="57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STRATEGIC INSIGHTS &amp; DATA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1356" y="1390769"/>
            <a:ext cx="8610362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1. Outlet Performance &amp; Fulfillment Optimization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321356" y="2160151"/>
            <a:ext cx="11987689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analysis confirms a clear correlation between outlet characteristics and revenue generation. The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Medium-Sized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outlet model is the sweet spot, indicating the optimal balance between high inventory throughput and quick picker-to-delivery handoff time, which is critical for the 10-minute promise.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21356" y="3384590"/>
            <a:ext cx="11987689" cy="4110990"/>
          </a:xfrm>
          <a:prstGeom prst="roundRect">
            <a:avLst>
              <a:gd name="adj" fmla="val 211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8976" y="3392210"/>
            <a:ext cx="11972449" cy="5937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35787" y="3523774"/>
            <a:ext cx="2575917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Area of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32709" y="3523774"/>
            <a:ext cx="3769281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22995" y="3523774"/>
            <a:ext cx="4371737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Strategic Recommendation (Action)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8976" y="3985974"/>
            <a:ext cx="11972449" cy="19163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35787" y="4117538"/>
            <a:ext cx="2575917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Outlet Size (Revenue Driver)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32709" y="4117538"/>
            <a:ext cx="3769281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Medium-Sized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outlets are the top revenue generators, while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High-Sized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outlets are the lowest.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22995" y="4117538"/>
            <a:ext cx="4371737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Phase Out/Right-Size High-Sized Stores.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High-sized stores likely suffer from inefficient picking routes and high rent. Convert capital from underperforming large stores into two or more high-efficiency Medium dark stores.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8976" y="5902285"/>
            <a:ext cx="11972449" cy="15856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35787" y="6033849"/>
            <a:ext cx="2575917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Geographic Tiering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2709" y="6033849"/>
            <a:ext cx="3769281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Tier 3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locations demonstrate the strongest sales concentration, followed by Tier 2 and Tier 1.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22995" y="6033849"/>
            <a:ext cx="4371737" cy="132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Prioritize Tier 3 Expansion.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Tier 3 is an 'untapped goldmine' with high sales potential. Allocate 60% of QX expansion budget to establishing the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Medium-sized dark store blueprint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 new Tier 3 suburbs.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339447"/>
            <a:ext cx="44237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Assortment &amp; Inventory Strategy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1321356" y="731639"/>
            <a:ext cx="4468178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2. Product Stocking &amp; Consumer Demand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1356" y="1190982"/>
            <a:ext cx="1198768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Product stocking must reflect proven consumer demand, which skews towards immediate-consumption, low-fat grocery items.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321356" y="1527334"/>
            <a:ext cx="3913584" cy="1979414"/>
          </a:xfrm>
          <a:prstGeom prst="roundRect">
            <a:avLst>
              <a:gd name="adj" fmla="val 3696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6116" y="1527334"/>
            <a:ext cx="60960" cy="197941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7" name="Text 5"/>
          <p:cNvSpPr/>
          <p:nvPr/>
        </p:nvSpPr>
        <p:spPr>
          <a:xfrm>
            <a:off x="1505664" y="1665923"/>
            <a:ext cx="15166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Top-Selling Categories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5664" y="1911429"/>
            <a:ext cx="3590687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Finding: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Fruits and Vegetables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are the highest-selling item types, followed by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Snack Foods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05664" y="2380536"/>
            <a:ext cx="359068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Strategic Recommendation (Action):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Elevate Freshness KPI.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Because Fresh Produce drives max revenue, implement a rigorous, real-time quality control system for Fruits/Vegetables to protect the brand's 'Trust' metric. Dedicate 20% of dark store floor space to refrigerated produce.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58289" y="1527334"/>
            <a:ext cx="3913703" cy="1979414"/>
          </a:xfrm>
          <a:prstGeom prst="roundRect">
            <a:avLst>
              <a:gd name="adj" fmla="val 3696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3049" y="1527334"/>
            <a:ext cx="60960" cy="197941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5542598" y="1665923"/>
            <a:ext cx="15588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Fat Content Preference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42598" y="1911429"/>
            <a:ext cx="3590806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Finding: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 Fat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products generate the highest sales revenue ($776.32K), significantly outpacing Regular Fat products ($425.36K).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42598" y="2380536"/>
            <a:ext cx="359080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Strategic Recommendation (Action):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Negotiate Low-Fat Bulk Contracts.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Use the sales data to secure better bulk pricing on Low-Fat variants across all relevant categories (Dairy, Packaged Goods). Re-allocate shelf space to increase SKU visibility for all Low-Fat items.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95341" y="1527334"/>
            <a:ext cx="3913703" cy="1979414"/>
          </a:xfrm>
          <a:prstGeom prst="roundRect">
            <a:avLst>
              <a:gd name="adj" fmla="val 3696"/>
            </a:avLst>
          </a:prstGeom>
          <a:solidFill>
            <a:srgbClr val="0B0C23">
              <a:alpha val="95000"/>
            </a:srgbClr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80101" y="1527334"/>
            <a:ext cx="60960" cy="197941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9579650" y="1665923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Inventory &amp; Breadth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79650" y="1911429"/>
            <a:ext cx="359080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Finding: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8,523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total items sold, averaging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$141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per transaction.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79650" y="2183011"/>
            <a:ext cx="359080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Strategic Recommendation (Action):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Maintain Strategic Breadth.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high item count supports the 'Last-Minute App' promise of solving various immediate needs. Utilize the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Matrix Card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visualization (Avg Rating, Avg Sales, Item Visibility) to cull bottom 5% of SKUs that have low rating/visibility but consume valuable dark store space.</a:t>
            </a:r>
            <a:endParaRPr lang="en-US" sz="9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56" y="3645575"/>
            <a:ext cx="11987689" cy="6685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467797"/>
            <a:ext cx="6462832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Performance</a:t>
            </a:r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by Category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56" y="1280398"/>
            <a:ext cx="11987689" cy="67131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1356" y="8184833"/>
            <a:ext cx="11987689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data clearly demonstrates consumer preference for healthier options, with Low Fat products generating nearly </a:t>
            </a:r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double the revenue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of Regular Fat alternatives. This insight should drive both procurement strategy and shelf space allocation decisions across all dark store locations.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655082"/>
            <a:ext cx="10016490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DAX CALCULATIONS: </a:t>
            </a:r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FOUNDATION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321356" y="1785461"/>
            <a:ext cx="11987689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insights are derived from robust DAX logic ensuring metric integrity: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1321356" y="2430066"/>
            <a:ext cx="11987689" cy="3494603"/>
          </a:xfrm>
          <a:prstGeom prst="roundRect">
            <a:avLst>
              <a:gd name="adj" fmla="val 28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8976" y="2437686"/>
            <a:ext cx="11972449" cy="6775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65672" y="2587228"/>
            <a:ext cx="3114675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KPI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161121" y="2587228"/>
            <a:ext cx="7903726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DAX Formula (Semantic Layer)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1328976" y="3115270"/>
            <a:ext cx="11972449" cy="7004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65672" y="3264813"/>
            <a:ext cx="3114675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Total Sales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161121" y="3264813"/>
            <a:ext cx="7903726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SUM('BlinkIT Grocery Data'[Sales])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1328976" y="3815715"/>
            <a:ext cx="11972449" cy="7004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65672" y="3965258"/>
            <a:ext cx="3114675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Average Sales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161121" y="3965258"/>
            <a:ext cx="7903726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AVERAGE('BlinkIT Grocery Data'[Sales])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328976" y="4516160"/>
            <a:ext cx="11972449" cy="7004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65672" y="4665702"/>
            <a:ext cx="3114675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Items Sold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161121" y="4665702"/>
            <a:ext cx="7903726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COUNTROWS('BlinkIT Grocery Data')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1328976" y="5216604"/>
            <a:ext cx="11972449" cy="7004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65672" y="5366147"/>
            <a:ext cx="3114675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Revenue Density Index (RDI)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161121" y="5366147"/>
            <a:ext cx="7903726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i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 Metric for Executive Use:</a:t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/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[Total Sales] / [Outlet Square Footage]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1321356" y="6190774"/>
            <a:ext cx="11987689" cy="1383744"/>
          </a:xfrm>
          <a:prstGeom prst="roundRect">
            <a:avLst>
              <a:gd name="adj" fmla="val 7181"/>
            </a:avLst>
          </a:prstGeom>
          <a:solidFill>
            <a:srgbClr val="321A2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933" y="6530816"/>
            <a:ext cx="295632" cy="23657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090142" y="6486406"/>
            <a:ext cx="10982325" cy="75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These foundational metrics power all strategic recommendations and ensure data-driven decision making across the organization.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2025-10-29T17:06:53Z</dcterms:created>
  <dcterms:modified xsi:type="dcterms:W3CDTF">2025-10-29T17:06:53Z</dcterms:modified>
</cp:coreProperties>
</file>